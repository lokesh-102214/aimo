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Lexen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Lexend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Lexend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2bde77b9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2bde77b9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2bde77b9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72bde77b9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2bde77b9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2bde77b9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2bde77b9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2bde77b9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2bde77b9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72bde77b9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2bde77b9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72bde77b9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2bde77b9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2bde77b9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2bde77b9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2bde77b9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2bde77b9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72bde77b9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2bde77b9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2bde77b9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2bde77b9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72bde77b9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2bde77b90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2bde77b90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2bde77b90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72bde77b9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2bde77b90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72bde77b90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2bde77b90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2bde77b90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2bde77b90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2bde77b90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2bde77b90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2bde77b9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2bde77b90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2bde77b9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2bde77b90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2bde77b90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2bde77b90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2bde77b90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2bde77b90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2bde77b90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2bde77b90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2bde77b90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2bde77b90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72bde77b90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72bf7e8e1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2bf7e8e1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72bde77b90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72bde77b90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2bde77b9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2bde77b9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2bde77b90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2bde77b90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2bde77b90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2bde77b90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2bde77b90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2bde77b90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72bde77b90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2bde77b90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72bde77b90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72bde77b90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72bde77b90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72bde77b90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72bde77b90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72bde77b90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72bde77b90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72bde77b9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72bde77b90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72bde77b90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nyscale.com/" TargetMode="External"/><Relationship Id="rId4" Type="http://schemas.openxmlformats.org/officeDocument/2006/relationships/hyperlink" Target="https://arxiv.org/abs/2111.05972" TargetMode="External"/><Relationship Id="rId5" Type="http://schemas.openxmlformats.org/officeDocument/2006/relationships/hyperlink" Target="https://x.com/cdnamz" TargetMode="External"/><Relationship Id="rId6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hyperlink" Target="https://github.com/vllm-project/vllm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tfSZqjxsr0M&amp;t=2389s&amp;ab_channel=AM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x.com/karpathy/status/169731853455533696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hyperlink" Target="https://arxiv.org/pdf/2308.04623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rxiv.org/pdf/2211.17192" TargetMode="External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vllm-project/vllm/blob/main/vllm/spec_decode/metrics.py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vllm-project/vllm/pull/2336" TargetMode="External"/><Relationship Id="rId4" Type="http://schemas.openxmlformats.org/officeDocument/2006/relationships/hyperlink" Target="https://arxiv.org/pdf/2302.01318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vllm-project/vllm/blob/37464a0f745a0204da7443d2a6ef4b8f65e5af12/tests/spec_decode/e2e/test_multistep_correctness.py#L1" TargetMode="External"/><Relationship Id="rId4" Type="http://schemas.openxmlformats.org/officeDocument/2006/relationships/hyperlink" Target="https://github.com/vllm-project/vllm/issues/4630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vllm-project/vllm/blob/37464a0f745a0204da7443d2a6ef4b8f65e5af12/vllm/spec_decode/spec_decode_worker.py#L1" TargetMode="External"/><Relationship Id="rId4" Type="http://schemas.openxmlformats.org/officeDocument/2006/relationships/hyperlink" Target="https://github.com/vllm-project/vllm/blob/37464a0f745a0204da7443d2a6ef4b8f65e5af12/vllm/spec_decode/multi_step_worker.py#L1" TargetMode="External"/><Relationship Id="rId5" Type="http://schemas.openxmlformats.org/officeDocument/2006/relationships/hyperlink" Target="https://github.com/vllm-project/vllm/blob/37464a0f745a0204da7443d2a6ef4b8f65e5af12/vllm/spec_decode/ngram_worker.py#L1" TargetMode="External"/><Relationship Id="rId6" Type="http://schemas.openxmlformats.org/officeDocument/2006/relationships/hyperlink" Target="https://github.com/vllm-project/vllm/blob/37464a0f745a0204da7443d2a6ef4b8f65e5af12/vllm/model_executor/layers/rejection_sampler.py#L1" TargetMode="External"/><Relationship Id="rId7" Type="http://schemas.openxmlformats.org/officeDocument/2006/relationships/hyperlink" Target="https://github.com/vllm-project/vllm/issues/5015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ites.google.com/view/medusa-llm" TargetMode="External"/><Relationship Id="rId4" Type="http://schemas.openxmlformats.org/officeDocument/2006/relationships/hyperlink" Target="https://arxiv.org/pdf/2305.09781" TargetMode="External"/><Relationship Id="rId5" Type="http://schemas.openxmlformats.org/officeDocument/2006/relationships/hyperlink" Target="https://www.together.ai/blog/sequoia" TargetMode="External"/><Relationship Id="rId6" Type="http://schemas.openxmlformats.org/officeDocument/2006/relationships/hyperlink" Target="https://github.com/vllm-project/vllm/issues/3960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arxiv.org/pdf/2302.01318" TargetMode="External"/><Relationship Id="rId4" Type="http://schemas.openxmlformats.org/officeDocument/2006/relationships/hyperlink" Target="https://github.com/vllm-project/vllm/blob/37464a0f745a0204da7443d2a6ef4b8f65e5af12/vllm/model_executor/layers/rejection_sampler.py#L210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arxiv.org/pdf/2302.01318" TargetMode="External"/><Relationship Id="rId4" Type="http://schemas.openxmlformats.org/officeDocument/2006/relationships/hyperlink" Target="https://github.com/vllm-project/vllm/blob/37464a0f745a0204da7443d2a6ef4b8f65e5af12/vllm/model_executor/layers/rejection_sampler.py#L210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hyperlink" Target="https://arxiv.org/pdf/2211.17192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document/d/1Z9TvqzzBPnh5WHcRwjvK2UEeFeq5zMZb5mFE8jR0HCs/edit#heading=h.1fjfb0donq5a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vllm-project/vllm/issues/4565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vllm-project/vllm/issues/4565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document/d/1T-JaS2T1NRfdP51qzqpyakoCXxSXTtORppiwaj5asxA/edit#heading=h.kk7dq05lc6q8" TargetMode="External"/><Relationship Id="rId4" Type="http://schemas.openxmlformats.org/officeDocument/2006/relationships/hyperlink" Target="https://github.com/LiuXiaoxuanPKU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google.com/document/d/1T-JaS2T1NRfdP51qzqpyakoCXxSXTtORppiwaj5asxA/edit#heading=h.kk7dq05lc6q8" TargetMode="External"/><Relationship Id="rId4" Type="http://schemas.openxmlformats.org/officeDocument/2006/relationships/hyperlink" Target="https://github.com/LiuXiaoxuanPKU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ithub.com/vllm-project/vllm/tree/main/tests/spec_decode" TargetMode="External"/><Relationship Id="rId4" Type="http://schemas.openxmlformats.org/officeDocument/2006/relationships/hyperlink" Target="https://github.com/vllm-project/vllm/tree/main/tests/spec_decode/e2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arxiv.org/html/2401.14021v1" TargetMode="External"/><Relationship Id="rId4" Type="http://schemas.openxmlformats.org/officeDocument/2006/relationships/hyperlink" Target="https://arxiv.org/abs/2310.07177" TargetMode="External"/><Relationship Id="rId5" Type="http://schemas.openxmlformats.org/officeDocument/2006/relationships/hyperlink" Target="https://github.com/vllm-project/vllm/issues/4303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Hacker’s Guide to Speculative Decoding in</a:t>
            </a:r>
            <a:r>
              <a:rPr lang="en">
                <a:solidFill>
                  <a:schemeClr val="lt1"/>
                </a:solidFill>
              </a:rPr>
              <a:t> vLLM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CUDA MODE talk by Cade Daniel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42200"/>
            <a:ext cx="1801300" cy="18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5225" y="1990300"/>
            <a:ext cx="2300452" cy="65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Working on LLM inference in vLLM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Engineer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Anyscale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Previously, model parallelism systems at AWS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https://arxiv.org/abs/2111.05972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Feel free to reach out!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https://x.com/cdnamz</a:t>
            </a:r>
            <a:r>
              <a:rPr lang="en"/>
              <a:t> 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425" y="857250"/>
            <a:ext cx="2853875" cy="285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vLLM’s core principles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background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framework intro (for contributors)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contribution ideas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Q&amp;A (30min)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vLLM’s core principles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Ease-of-use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Great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agnosticity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Easy-to-use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351" y="2455188"/>
            <a:ext cx="3655178" cy="260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220" y="951753"/>
            <a:ext cx="416150" cy="4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2184075" y="928988"/>
            <a:ext cx="482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u="sng">
                <a:solidFill>
                  <a:srgbClr val="0097A7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https://github.com/vllm-project/vllm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6150" y="1480165"/>
            <a:ext cx="390500" cy="3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3526825" y="1447540"/>
            <a:ext cx="210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$ pip install vllm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1476" y="1943397"/>
            <a:ext cx="416150" cy="4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3971526" y="1926863"/>
            <a:ext cx="12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17K Stars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features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PagedAttention/tensor parallelism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Optimized multi-LoRA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Chunked prefill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Automatic prefix caching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Guided decoding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Quantization (fp8 WIP, and others)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Pipeline-parallelism (WIP)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Prefill disaggregation (WIP)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More contributions welcome!</a:t>
            </a:r>
            <a:endParaRPr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 performance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Lexend"/>
                <a:ea typeface="Lexend"/>
                <a:cs typeface="Lexend"/>
                <a:sym typeface="Lexend"/>
              </a:rPr>
              <a:t>Hardware agnosticity</a:t>
            </a:r>
            <a:endParaRPr sz="2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5641" l="3165" r="3165" t="5650"/>
          <a:stretch/>
        </p:blipFill>
        <p:spPr>
          <a:xfrm>
            <a:off x="3016400" y="1106799"/>
            <a:ext cx="5815900" cy="283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9"/>
          <p:cNvCxnSpPr/>
          <p:nvPr/>
        </p:nvCxnSpPr>
        <p:spPr>
          <a:xfrm>
            <a:off x="802550" y="4484617"/>
            <a:ext cx="3143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9"/>
          <p:cNvSpPr txBox="1"/>
          <p:nvPr/>
        </p:nvSpPr>
        <p:spPr>
          <a:xfrm>
            <a:off x="741422" y="4467152"/>
            <a:ext cx="7178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Lexend"/>
                <a:ea typeface="Lexend"/>
                <a:cs typeface="Lexend"/>
                <a:sym typeface="Lexend"/>
              </a:rPr>
              <a:t>Source: </a:t>
            </a:r>
            <a:r>
              <a:rPr i="1" lang="en" sz="1200" u="sng">
                <a:solidFill>
                  <a:srgbClr val="0097A7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AMD Presents: Advancing AI</a:t>
            </a:r>
            <a:endParaRPr i="1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sz="10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249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backends: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NVIDIA, AMD, Inferentia, TPU (WIP), CPU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vLLM’s core principles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Spec decode background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framework intro (for contributors)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contribution ideas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Q&amp;A (30min)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background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Andrej Karpathy’s tweet on speculative decoding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https://x.com/karpathy/status/1697318534555336961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Memory-boundedness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memory-bound LLM inference, the full GPU compute capacity is underutilized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unused compute can be used, if we can find a way to use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all </a:t>
            </a:r>
            <a:r>
              <a:rPr lang="en"/>
              <a:t>parameters required for every token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we really need 70B parameters to answer “What is the capital of California”? Probably not…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Try to predict what large model will say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probabilities of predictions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heuristic to accept or rejection the predictions based on probabilities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background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450" y="1017725"/>
            <a:ext cx="364797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6055000" y="392812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“Accelerating LLM Inference with Staged Speculative Decoding”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https://arxiv.org/pdf/2308.04623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ow to evaluate speedup?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“Fast Inference from Transformers via Speculative Decoding”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https://arxiv.org/pdf/2211.17192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975" y="1856075"/>
            <a:ext cx="3874417" cy="323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evaluate speedup?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Simplified version: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Inter-token latency = step time / </a:t>
            </a:r>
            <a:r>
              <a:rPr lang="en"/>
              <a:t>number</a:t>
            </a:r>
            <a:r>
              <a:rPr lang="en"/>
              <a:t> of tokens per step in expectation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 without speculative decoding: 30ms / 1 → 1 token per 30ms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 with speculative decoding: 40ms / 2.5 → 1 token per 16ms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long does it take to propose?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accurate are the proposals?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long does it take to verify / other spec framework overheads?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https://github.com/vllm-project/vllm/blob/main/vllm/spec_decode/metrics.py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Acceptance rate – “How aligned is the proposal method with the target model?”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efficiency – “How efficient is the deployment compared to 100% acceptance rate?”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Losslessness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 output of speculative decoding different than the target model?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TL;DR No if using rejection sampling, subject to hardware numerics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Diagram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https://github.com/vllm-project/vllm/pull/2336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Yes if using lossly sampling technique, e.g. Medusa’s typical acceptance (but higher acceptance rate!)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 (proof of losslessness): </a:t>
            </a:r>
            <a:r>
              <a:rPr lang="en" u="sng">
                <a:solidFill>
                  <a:schemeClr val="hlink"/>
                </a:solidFill>
                <a:hlinkClick r:id="rId4"/>
              </a:rPr>
              <a:t>Accelerating Large Language Model Decoding with Speculative Sampling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vLLM’s core principles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background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Spec decode framework intro (for contributors)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contribution ideas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Q&amp;A (30min)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 in vLLM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framework is complete with </a:t>
            </a:r>
            <a:r>
              <a:rPr lang="en" u="sng">
                <a:solidFill>
                  <a:schemeClr val="hlink"/>
                </a:solidFill>
                <a:hlinkClick r:id="rId3"/>
              </a:rPr>
              <a:t>correctness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Supports draft model, ngram, Medusa (soon), IBM’s MLPSpeculator (soon)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features like skipping speculation for some sequences, dynamic speculative decoding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Missing performance optimizations </a:t>
            </a:r>
            <a:r>
              <a:rPr lang="en"/>
              <a:t>to achieve Anyscale’s internal fork performance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https://github.com/vllm-project/vllm/issues/4630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Llama2 70B 50% ITL reduction on BS=1..8 with temperature 1.0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 in vLLM</a:t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50" y="953100"/>
            <a:ext cx="736621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framework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SpecDecodeWorker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Proposers (ngram, draft model)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Scorer (top-1 scoring)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Verifier (rejection sampling)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framework</a:t>
            </a: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75" y="1061600"/>
            <a:ext cx="827338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framework: links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SpecDecodeWorker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https://github.com/vllm-project/vllm/blob/37464a0f745a0204da7443d2a6ef4b8f65e5af12/vllm/spec_decode/spec_decode_worker.py#L1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Draft model proposer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https://github.com/vllm-project/vllm/blob/37464a0f745a0204da7443d2a6ef4b8f65e5af12/vllm/spec_decode/multi_step_worker.py#L1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Ngram proposer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https://github.com/vllm-project/vllm/blob/37464a0f745a0204da7443d2a6ef4b8f65e5af12/vllm/spec_decode/ngram_worker.py#L1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Verifier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Rejection sampler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https://github.com/vllm-project/vllm/blob/37464a0f745a0204da7443d2a6ef4b8f65e5af12/vllm/model_executor/layers/rejection_sampler.py#L1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WIP typical acceptance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https://github.com/vllm-project/vllm/issues/5015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Top-1: proposal method suggests 1 token per sequence per slot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Top-k: proposal method suggests k tokens per sequence per slot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https://sites.google.com/view/medusa-llm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https://arxiv.org/pdf/2305.09781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https://www.together.ai/blog/sequoia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Currently only top-1 proposal and scoring is supported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Top-k is a future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aggressive speedups require top-k attention masking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FlashInfer going to support masking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https://github.com/vllm-project/vllm/issues/3960</a:t>
            </a:r>
            <a:r>
              <a:rPr lang="en"/>
              <a:t> </a:t>
            </a:r>
            <a:endParaRPr/>
          </a:p>
        </p:txBody>
      </p:sp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framework: top1 vs top-k “tree attention”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1388950"/>
            <a:ext cx="8520600" cy="31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https://arxiv.org/pdf/2302.01318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Bonus token: All speculative tokens may be accepted. We can sample from target model distribution normally in this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→ we get an additional token in the happy-path!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Recovered token: If all tokens are rejected, we can use math trick to sample a correct token from the target model 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→ We always get &gt;=1 token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 is in rejection sampler / SpecDecodeWorker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https://github.com/vllm-project/vllm/blob/37464a0f745a0204da7443d2a6ef4b8f65e5af12/vllm/model_executor/layers/rejection_sampler.py#L210</a:t>
            </a:r>
            <a:r>
              <a:rPr lang="en"/>
              <a:t> </a:t>
            </a:r>
            <a:endParaRPr/>
          </a:p>
        </p:txBody>
      </p:sp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framework: “Bonus token” and “recovered token”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framework: “Bonus token” and “recovered token”</a:t>
            </a:r>
            <a:endParaRPr/>
          </a:p>
        </p:txBody>
      </p:sp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200" y="1017725"/>
            <a:ext cx="4543425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388950"/>
            <a:ext cx="8520600" cy="31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https://arxiv.org/pdf/2302.01318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Bonus token: All speculative tokens may be accepted. We can sample from target model distribution normally in this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→ we get an additional token in the happy-path!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Recovered token: If all tokens are rejected, we can use math trick to sample a correct token from the target model 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→ We </a:t>
            </a:r>
            <a:r>
              <a:rPr lang="en"/>
              <a:t>always</a:t>
            </a:r>
            <a:r>
              <a:rPr lang="en"/>
              <a:t> </a:t>
            </a:r>
            <a:r>
              <a:rPr lang="en"/>
              <a:t>get</a:t>
            </a:r>
            <a:r>
              <a:rPr lang="en"/>
              <a:t> &gt;=1 token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 is in rejection sampler / SpecDecodeWorker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https://github.com/vllm-project/vllm/blob/37464a0f745a0204da7443d2a6ef4b8f65e5af12/vllm/model_executor/layers/rejection_sampler.py#L210</a:t>
            </a:r>
            <a:r>
              <a:rPr lang="en"/>
              <a:t> </a:t>
            </a:r>
            <a:endParaRPr/>
          </a:p>
        </p:txBody>
      </p:sp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framework: “Bonus token” and “recovered token”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decode framework: “Bonus token” and “recovered token”</a:t>
            </a:r>
            <a:endParaRPr/>
          </a:p>
        </p:txBody>
      </p:sp>
      <p:pic>
        <p:nvPicPr>
          <p:cNvPr id="208" name="Google Shape;2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850" y="1436125"/>
            <a:ext cx="7161199" cy="30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 txBox="1"/>
          <p:nvPr/>
        </p:nvSpPr>
        <p:spPr>
          <a:xfrm>
            <a:off x="3179450" y="4611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https://arxiv.org/pdf/2211.17192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Scoring speculative tokens generates KV. How can we save accepted KV to skip regeneration and reduce FLOPs requirements?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lookahead scheduling in vLLM?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TL;DR: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vLLM’s scheduler allocates additional space for KV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SpecDecodeWorker uses the space to store KV of speculative tokens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Accepted token KV is stored correctly</a:t>
            </a:r>
            <a:endParaRPr/>
          </a:p>
        </p:txBody>
      </p:sp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Lookahead scheduling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As batch size increases, spare FLOPs is reduced. How can we ensure spec decode performs no worse than no spec decode?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https://github.com/vllm-project/vllm/issues/4565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 by Lily Liu and Cody Yu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TL;DR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the batch size, adjust which sequences have speculations (or disable spec dec altogether)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Future work: per-sequence speculation length</a:t>
            </a:r>
            <a:endParaRPr/>
          </a:p>
        </p:txBody>
      </p:sp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speculative decoding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speculative decoding</a:t>
            </a:r>
            <a:endParaRPr/>
          </a:p>
        </p:txBody>
      </p:sp>
      <p:pic>
        <p:nvPicPr>
          <p:cNvPr id="227" name="Google Shape;2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888" y="1017725"/>
            <a:ext cx="5566224" cy="3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9"/>
          <p:cNvSpPr txBox="1"/>
          <p:nvPr/>
        </p:nvSpPr>
        <p:spPr>
          <a:xfrm>
            <a:off x="249575" y="4340500"/>
            <a:ext cx="45033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Source: Xiaoxuan Liu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As batch size increases, spare FLOPs is reduced. How can we ensure spec decode performs no worse than no spec decode?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https://github.com/vllm-project/vllm/issues/4565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 by Lily Liu and Cody Yu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TL;DR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the batch size, adjust which sequences have speculations (or disable spec dec altogether)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Future work: per-sequence speculation length</a:t>
            </a:r>
            <a:endParaRPr/>
          </a:p>
        </p:txBody>
      </p:sp>
      <p:sp>
        <p:nvSpPr>
          <p:cNvPr id="234" name="Google Shape;23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speculative decoding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How to support scoring when PagedAttention only supports 1 query token per sequence?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</a:t>
            </a:r>
            <a:r>
              <a:rPr lang="en" u="sng">
                <a:solidFill>
                  <a:schemeClr val="hlink"/>
                </a:solidFill>
                <a:hlinkClick r:id="rId3"/>
              </a:rPr>
              <a:t>Optimizing attention for spec decode can reduce latency / increase throughput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TL;DR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create “virtual sequences” in SpecDecodeWorker each with 1 query token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expands the batch (and duplicates KV loads in the attention layers)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remove this with an attention kernel which supports PagedAttention + multiple query tokens per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https://github.com/LiuXiaoxuanPKU</a:t>
            </a:r>
            <a:r>
              <a:rPr lang="en"/>
              <a:t> for more information</a:t>
            </a:r>
            <a:endParaRPr/>
          </a:p>
        </p:txBody>
      </p:sp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expansion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Batch expansion</a:t>
            </a:r>
            <a:endParaRPr/>
          </a:p>
        </p:txBody>
      </p:sp>
      <p:pic>
        <p:nvPicPr>
          <p:cNvPr id="246" name="Google Shape;24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200" y="1017725"/>
            <a:ext cx="4543425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How to support scoring when PagedAttention only supports 1 query token per sequence?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Recommended reading: </a:t>
            </a:r>
            <a:r>
              <a:rPr lang="en" u="sng">
                <a:solidFill>
                  <a:schemeClr val="hlink"/>
                </a:solidFill>
                <a:hlinkClick r:id="rId3"/>
              </a:rPr>
              <a:t>Optimizing attention for spec decode can reduce latency / increase throughput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TL;DR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create “virtual sequences” in SpecDecodeWorker each with 1 query token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expands the batch (and duplicates KV loads in the attention layers)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remove this with an attention kernel which supports PagedAttention + multiple query tokens per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https://github.com/LiuXiaoxuanPKU</a:t>
            </a:r>
            <a:r>
              <a:rPr lang="en"/>
              <a:t> for more information</a:t>
            </a:r>
            <a:endParaRPr/>
          </a:p>
        </p:txBody>
      </p:sp>
      <p:sp>
        <p:nvSpPr>
          <p:cNvPr id="252" name="Google Shape;25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expansion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How can we validate correctness of spec decode?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TL;DR: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E2E: When temperature==0, we expect equality with and without spec decode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Rejection sampler unit tests (output distribution does not change regardless of draft/target probabilities))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rely on these tests when contributing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https://github.com/vllm-project/vllm/tree/main/tests/spec_decode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https://github.com/vllm-project/vllm/tree/main/tests/spec_decode/e2e</a:t>
            </a:r>
            <a:r>
              <a:rPr lang="en"/>
              <a:t> </a:t>
            </a:r>
            <a:endParaRPr/>
          </a:p>
        </p:txBody>
      </p:sp>
      <p:sp>
        <p:nvSpPr>
          <p:cNvPr id="258" name="Google Shape;25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264" name="Google Shape;26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vLLM’s core principles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background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framework intro (for contributors)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Future contribution ideas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Q&amp;A (30min)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engineering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Retrieval-acceleration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https://arxiv.org/html/2401.14021v1</a:t>
            </a:r>
            <a:r>
              <a:rPr lang="en" sz="1800"/>
              <a:t>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Chunked prefill + spec decode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Prefix caching + spec decode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Guided decoding + spec decode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Inferentia / TPU / CPU support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modeling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Meta-model for speculation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Meta-model for speculation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 / mixed engineering+modeling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Multi-LoRA draft model (specialize to domains)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Online learning draft model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https://arxiv.org/abs/2310.07177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Batched parallel decoding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https://github.com/vllm-project/vllm/issues/4303</a:t>
            </a:r>
            <a:r>
              <a:rPr lang="en"/>
              <a:t> </a:t>
            </a:r>
            <a:endParaRPr/>
          </a:p>
        </p:txBody>
      </p:sp>
      <p:sp>
        <p:nvSpPr>
          <p:cNvPr id="270" name="Google Shape;27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contribution ideas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76" name="Google Shape;27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people contributed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Lily Liu, Cody Yu, Antoni Baum, vLLM creators, </a:t>
            </a:r>
            <a:r>
              <a:rPr lang="en"/>
              <a:t>Vikas Ummadisetty, Chen Shen, Sang Cho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Many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282" name="Google Shape;28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vLLM’s core principles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background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 decode framework intro (for contributors)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contribution ideas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Q&amp;A (30min)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